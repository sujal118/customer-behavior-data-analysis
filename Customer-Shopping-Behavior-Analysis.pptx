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Uncovering insights from transactional data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0147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 &amp; Dataset Summary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96835" y="878681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20467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Analyze 3,900 purchases to optimize operations, reduce costs, and improve energy forecasting.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1513642"/>
            <a:ext cx="6780014" cy="6780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61171" y="878681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61171" y="120467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Rows: 3,900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461171" y="14257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Columns: 18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61171" y="16468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Features: Demographics, Purchase Details, Shopping Behavior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61171" y="1867972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Missing Data: 37 values in Review Rating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2176939"/>
            <a:ext cx="6780014" cy="67800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0318"/>
            <a:ext cx="6726198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Exploratory Data Analysis (Python)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3790" y="1824157"/>
            <a:ext cx="6429494" cy="1802011"/>
          </a:xfrm>
          <a:prstGeom prst="roundRect">
            <a:avLst>
              <a:gd name="adj" fmla="val 608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801297"/>
            <a:ext cx="6429494" cy="91440"/>
          </a:xfrm>
          <a:prstGeom prst="roundRect">
            <a:avLst>
              <a:gd name="adj" fmla="val 200930"/>
            </a:avLst>
          </a:prstGeom>
          <a:solidFill>
            <a:srgbClr val="84C1FA"/>
          </a:solidFill>
          <a:ln/>
        </p:spPr>
      </p:sp>
      <p:sp>
        <p:nvSpPr>
          <p:cNvPr id="5" name="Shape 3"/>
          <p:cNvSpPr/>
          <p:nvPr/>
        </p:nvSpPr>
        <p:spPr>
          <a:xfrm>
            <a:off x="3702308" y="1518047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3886021" y="1671161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0723" y="2334458"/>
            <a:ext cx="327159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Loading &amp; Exploration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0723" y="2763441"/>
            <a:ext cx="5975628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Imported dataset using 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Checked structure and summary statistics.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997" y="1824157"/>
            <a:ext cx="6429613" cy="1802011"/>
          </a:xfrm>
          <a:prstGeom prst="roundRect">
            <a:avLst>
              <a:gd name="adj" fmla="val 608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06997" y="1801297"/>
            <a:ext cx="6429613" cy="91440"/>
          </a:xfrm>
          <a:prstGeom prst="roundRect">
            <a:avLst>
              <a:gd name="adj" fmla="val 200930"/>
            </a:avLst>
          </a:prstGeom>
          <a:solidFill>
            <a:srgbClr val="84C1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315635" y="1518047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84C1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9348" y="1671161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33930" y="2334458"/>
            <a:ext cx="268605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Missing Data Handling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33930" y="2763441"/>
            <a:ext cx="5975747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Imputed missing 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 Rating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values using median by product category.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790" y="4115991"/>
            <a:ext cx="6429494" cy="1491734"/>
          </a:xfrm>
          <a:prstGeom prst="roundRect">
            <a:avLst>
              <a:gd name="adj" fmla="val 735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4093131"/>
            <a:ext cx="6429494" cy="91440"/>
          </a:xfrm>
          <a:prstGeom prst="roundRect">
            <a:avLst>
              <a:gd name="adj" fmla="val 200930"/>
            </a:avLst>
          </a:prstGeom>
          <a:solidFill>
            <a:srgbClr val="84C1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702308" y="3809881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3886021" y="3962995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20723" y="4626293"/>
            <a:ext cx="292655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Column Standardization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20723" y="5055275"/>
            <a:ext cx="5975628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Renamed columns to 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readability.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997" y="4115991"/>
            <a:ext cx="6429613" cy="1491734"/>
          </a:xfrm>
          <a:prstGeom prst="roundRect">
            <a:avLst>
              <a:gd name="adj" fmla="val 735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6997" y="4093131"/>
            <a:ext cx="6429613" cy="91440"/>
          </a:xfrm>
          <a:prstGeom prst="roundRect">
            <a:avLst>
              <a:gd name="adj" fmla="val 200930"/>
            </a:avLst>
          </a:prstGeom>
          <a:solidFill>
            <a:srgbClr val="84C1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15635" y="3809881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84C1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9348" y="3962995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633930" y="46262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33930" y="5055275"/>
            <a:ext cx="5975747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Created 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3790" y="6097548"/>
            <a:ext cx="6429494" cy="1491734"/>
          </a:xfrm>
          <a:prstGeom prst="roundRect">
            <a:avLst>
              <a:gd name="adj" fmla="val 7356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93790" y="6074688"/>
            <a:ext cx="6429494" cy="91440"/>
          </a:xfrm>
          <a:prstGeom prst="roundRect">
            <a:avLst>
              <a:gd name="adj" fmla="val 200930"/>
            </a:avLst>
          </a:prstGeom>
          <a:solidFill>
            <a:srgbClr val="84C1FA"/>
          </a:solidFill>
          <a:ln/>
        </p:spPr>
      </p:sp>
      <p:sp>
        <p:nvSpPr>
          <p:cNvPr id="29" name="Shape 27"/>
          <p:cNvSpPr/>
          <p:nvPr/>
        </p:nvSpPr>
        <p:spPr>
          <a:xfrm>
            <a:off x="3702308" y="5791438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84C1FA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021" y="5944553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020723" y="660785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Consistency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20723" y="7036832"/>
            <a:ext cx="5975628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Dropped redundant 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column.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06997" y="6097548"/>
            <a:ext cx="6429613" cy="1491734"/>
          </a:xfrm>
          <a:prstGeom prst="roundRect">
            <a:avLst>
              <a:gd name="adj" fmla="val 7356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6997" y="6074688"/>
            <a:ext cx="6429613" cy="91440"/>
          </a:xfrm>
          <a:prstGeom prst="roundRect">
            <a:avLst>
              <a:gd name="adj" fmla="val 200930"/>
            </a:avLst>
          </a:prstGeom>
          <a:solidFill>
            <a:srgbClr val="84C1F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15635" y="5791438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84C1FA"/>
          </a:solidFill>
          <a:ln/>
        </p:spPr>
      </p:sp>
      <p:sp>
        <p:nvSpPr>
          <p:cNvPr id="36" name="Text 34"/>
          <p:cNvSpPr/>
          <p:nvPr/>
        </p:nvSpPr>
        <p:spPr>
          <a:xfrm>
            <a:off x="10499348" y="5944553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633930" y="660785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 Integration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633930" y="7036832"/>
            <a:ext cx="597574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Loaded cleaned data into PostgreSQL for SQL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9151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Analysis using SQL: Key Insights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165628"/>
            <a:ext cx="3664744" cy="2931438"/>
          </a:xfrm>
          <a:prstGeom prst="roundRect">
            <a:avLst>
              <a:gd name="adj" fmla="val 6964"/>
            </a:avLst>
          </a:prstGeom>
          <a:solidFill>
            <a:srgbClr val="CEE6FD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239244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579489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2996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Revenue by Gender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3790117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Male: $157,890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020604" y="4289108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Female: $75,191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685348" y="2165628"/>
            <a:ext cx="3664863" cy="2931438"/>
          </a:xfrm>
          <a:prstGeom prst="roundRect">
            <a:avLst>
              <a:gd name="adj" fmla="val 6964"/>
            </a:avLst>
          </a:prstGeom>
          <a:solidFill>
            <a:srgbClr val="CEE6FD"/>
          </a:solidFill>
          <a:ln/>
        </p:spPr>
      </p:sp>
      <p:sp>
        <p:nvSpPr>
          <p:cNvPr id="11" name="Shape 7"/>
          <p:cNvSpPr/>
          <p:nvPr/>
        </p:nvSpPr>
        <p:spPr>
          <a:xfrm>
            <a:off x="4912162" y="239244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9328" y="2579489"/>
            <a:ext cx="306110" cy="306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12162" y="3299698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High-Spending Discount Users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912162" y="4144447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839 customers used discounts but spent above average.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5323880"/>
            <a:ext cx="7556421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16" name="Shape 11"/>
          <p:cNvSpPr/>
          <p:nvPr/>
        </p:nvSpPr>
        <p:spPr>
          <a:xfrm>
            <a:off x="1020604" y="555069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7770" y="5737741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0604" y="6457950"/>
            <a:ext cx="33010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 5 Products by Rating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020604" y="694836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Gloves (3.86), Sandals (3.84), Boots (3.82), Hat (3.80), Skirt (3.78)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20362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SQL Analysis: Shipping &amp; Subscriptions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96835" y="878681"/>
            <a:ext cx="216800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Shipping Type 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20467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Purchase Amount: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488162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Standard: $58.46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6835" y="1709261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Express: $60.48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2018228"/>
            <a:ext cx="6780014" cy="67800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61171" y="878681"/>
            <a:ext cx="2598777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Subscribers vs. Non-Subscribers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61171" y="120467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Subscribers (1053): Avg Spend $59.49, Total Revenue $62,645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61171" y="1488162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Non-Subscribers (2847): Avg Spend $59.87, Total Revenue $170,436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1797129"/>
            <a:ext cx="6780014" cy="67800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5636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SQL Analysis: Product &amp; Customer Focus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830473"/>
            <a:ext cx="3664744" cy="2448044"/>
          </a:xfrm>
          <a:prstGeom prst="roundRect">
            <a:avLst>
              <a:gd name="adj" fmla="val 8339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3087767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3932515"/>
            <a:ext cx="31501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Hat (50%), Sneakers (49.66%), Coat (49.07%), Sweater (48.17%), Pants (47.37%)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830473"/>
            <a:ext cx="3664863" cy="2448044"/>
          </a:xfrm>
          <a:prstGeom prst="roundRect">
            <a:avLst>
              <a:gd name="adj" fmla="val 8339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2642" y="3087767"/>
            <a:ext cx="31502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42642" y="3932515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 (3116), Returning (701), New (83)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05331"/>
            <a:ext cx="7556421" cy="1367909"/>
          </a:xfrm>
          <a:prstGeom prst="roundRect">
            <a:avLst>
              <a:gd name="adj" fmla="val 14924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084" y="5762625"/>
            <a:ext cx="40868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Repeat Buyers &amp; Subscriptions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1084" y="6253043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958 repeat buyers are subscribers, 2518 are not.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44603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SQL Analysis: Top Products &amp; Age Groups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96835" y="878681"/>
            <a:ext cx="2280047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 3 Products per Category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20467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Accessories: Jewelry, Sunglasses, Belt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4257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Clothing: Blouse, Pants, Shirt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6835" y="16468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Footwear: Sandals, Shoes, Sneakers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6835" y="1867972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Outerwear: Jacket, Coat</a:t>
            </a:r>
            <a:endParaRPr lang="en-US" sz="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2176939"/>
            <a:ext cx="6780014" cy="67800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61171" y="878681"/>
            <a:ext cx="1811060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Revenue by Age Group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61171" y="120467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Young Adult: $62,143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61171" y="14257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Middle-aged: $59,197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61171" y="16468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Adult: $55,978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461171" y="1867972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Senior: $55,763</a:t>
            </a:r>
            <a:endParaRPr lang="en-US" sz="8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2176939"/>
            <a:ext cx="6780014" cy="6780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407" y="283488"/>
            <a:ext cx="3923467" cy="215479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4897398"/>
            <a:ext cx="712743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Interactive Dashboard in Power BI</a:t>
            </a:r>
            <a:endParaRPr lang="en-US" sz="3550" dirty="0"/>
          </a:p>
        </p:txBody>
      </p:sp>
      <p:sp>
        <p:nvSpPr>
          <p:cNvPr id="5" name="Text 1"/>
          <p:cNvSpPr/>
          <p:nvPr/>
        </p:nvSpPr>
        <p:spPr>
          <a:xfrm>
            <a:off x="793790" y="58045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Visualizing key insights for strategic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1951"/>
            <a:ext cx="46299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 Highlights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857256" y="29720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62457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3.9K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5633" y="3325416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9720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Avg. Purchase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462457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$59.76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5201" y="3325416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424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Avg. Review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915025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3.75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5201" y="5584984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424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% Subscribers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915025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27% Yes, 73% No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5633" y="5584984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3438"/>
            <a:ext cx="5735122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Business Recommendations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4633" y="1788081"/>
            <a:ext cx="323136" cy="323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3996" y="178153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Boost Subscriptions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493996" y="2240875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exclusive benefits.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4633" y="2992874"/>
            <a:ext cx="323136" cy="3231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3996" y="2986326"/>
            <a:ext cx="353758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Loyalty Programs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493996" y="3445669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Reward repeat buyers.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4633" y="4197668"/>
            <a:ext cx="323136" cy="3231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93996" y="4191119"/>
            <a:ext cx="291226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Review Discount Policy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493996" y="4650462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Balance sales with margin control.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633" y="5402461"/>
            <a:ext cx="323136" cy="3231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93996" y="539591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Product Positioning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1493996" y="5855256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Highlight top-rated and best-selling items.</a:t>
            </a:r>
            <a:endParaRPr lang="en-US" sz="1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4633" y="6607254"/>
            <a:ext cx="323136" cy="3231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93996" y="660070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Targeted Marketing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1493996" y="7060049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high-revenue age groups and express-shipping users.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2026-01-22T02:33:51Z</dcterms:created>
  <dcterms:modified xsi:type="dcterms:W3CDTF">2026-01-22T02:33:51Z</dcterms:modified>
</cp:coreProperties>
</file>